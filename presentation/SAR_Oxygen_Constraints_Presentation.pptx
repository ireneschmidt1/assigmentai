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9966FF"/>
    <a:srgbClr val="CCCCFF"/>
    <a:srgbClr val="FFCCFF"/>
    <a:srgbClr val="1F2937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33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This report presents a complete PDDL planning framework for a multi-agent SAR robotic fleet constrained by finite atmospheric oxygen.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577850"/>
            <a:ext cx="8086725" cy="25146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3155157"/>
            <a:ext cx="6921151" cy="123444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28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8880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575564"/>
            <a:ext cx="8085582" cy="251688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3153157"/>
            <a:ext cx="6919722" cy="12344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83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498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02566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30350"/>
            <a:ext cx="3497580" cy="54255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06481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05706" y="1528826"/>
            <a:ext cx="3497580" cy="541782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05706" y="206324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6644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8351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319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406712"/>
            <a:ext cx="2537460" cy="144018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571500"/>
            <a:ext cx="4572000" cy="3429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1883860"/>
            <a:ext cx="2548890" cy="234524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1766878-3199-4EAB-94E7-2D6D11070E1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0506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4064001"/>
            <a:ext cx="8085582" cy="459962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3998214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4432301"/>
            <a:ext cx="6922008" cy="40005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1766878-3199-4EAB-94E7-2D6D11070E1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727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6841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521494"/>
            <a:ext cx="1971675" cy="360045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535782"/>
            <a:ext cx="5800725" cy="4050506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4231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05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374650"/>
            <a:ext cx="8079581" cy="1243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08760"/>
            <a:ext cx="8065294" cy="2824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4809335"/>
            <a:ext cx="30861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916023"/>
            <a:ext cx="37719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945" y="4407310"/>
            <a:ext cx="2194560" cy="10477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71766878-3199-4EAB-94E7-2D6D11070E1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72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743200" cy="2743200"/>
          </a:xfrm>
          <a:prstGeom prst="ellipse">
            <a:avLst/>
          </a:prstGeom>
          <a:solidFill>
            <a:srgbClr val="FFCCFF">
              <a:alpha val="18000"/>
            </a:srgbClr>
          </a:solidFill>
          <a:ln w="12700">
            <a:solidFill>
              <a:srgbClr val="F593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8138160" y="-365760"/>
            <a:ext cx="1645920" cy="1645920"/>
          </a:xfrm>
          <a:prstGeom prst="ellipse">
            <a:avLst/>
          </a:prstGeom>
          <a:solidFill>
            <a:srgbClr val="FFCCFF">
              <a:alpha val="35000"/>
            </a:srgbClr>
          </a:solidFill>
          <a:ln w="12700">
            <a:solidFill>
              <a:srgbClr val="F5931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-548640" y="3931920"/>
            <a:ext cx="2011680" cy="2011680"/>
          </a:xfrm>
          <a:prstGeom prst="ellipse">
            <a:avLst/>
          </a:prstGeom>
          <a:solidFill>
            <a:schemeClr val="tx2">
              <a:lumMod val="75000"/>
              <a:lumOff val="25000"/>
              <a:alpha val="20000"/>
            </a:scheme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D4-V8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and Rescue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C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Oxygen Constraints and Survival Limits</a:t>
            </a:r>
            <a:endParaRPr lang="en-US" sz="2400" dirty="0">
              <a:solidFill>
                <a:srgbClr val="FFCC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9443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Irene Schmidt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Genova  ·  Artificial Intelligence for Robotics II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Robotic Planning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0"/>
            <a:ext cx="2834640" cy="51435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01168" y="6858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01168" y="18288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fleet navigates an oxygen-degraded environment. Both robots and victims depend entirely on finite life-support payloads.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" y="3579876"/>
            <a:ext cx="24231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developed:</a:t>
            </a:r>
            <a:endParaRPr lang="en-US" sz="1000" dirty="0">
              <a:solidFill>
                <a:srgbClr val="FFCC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40416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Discrete PDDL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Temporal PDDL+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292608"/>
            <a:ext cx="27432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154680" y="4572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>
              <a:solidFill>
                <a:srgbClr val="FFCC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154680" y="9509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13441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locate victims across map topology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292608"/>
            <a:ext cx="27432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126480" y="4572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>
              <a:solidFill>
                <a:srgbClr val="FFCC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9509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Clinical Assessment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3441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SpO₂ profile and biological severity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743200"/>
            <a:ext cx="27432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154680" y="2907792"/>
            <a:ext cx="502920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>
              <a:solidFill>
                <a:srgbClr val="FFCCF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54680" y="34015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 Device Assignment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Cannula / Venturi / Mask / NRB by protocol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743200"/>
            <a:ext cx="27432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126480" y="29077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>
              <a:solidFill>
                <a:srgbClr val="FFCC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26480" y="34015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 Payload Evacuation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to safe zone within O₂ budget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MODELLING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Oxygen Physics &amp; Robotic Fleet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783080"/>
          </a:xfrm>
          <a:prstGeom prst="roundRect">
            <a:avLst>
              <a:gd name="adj" fmla="val 5128"/>
            </a:avLst>
          </a:prstGeom>
          <a:solidFill>
            <a:schemeClr val="tx2">
              <a:lumMod val="75000"/>
              <a:lumOff val="25000"/>
            </a:schemeClr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 Payload</a:t>
            </a:r>
            <a:endParaRPr lang="en-US" sz="1100" dirty="0">
              <a:solidFill>
                <a:srgbClr val="FFCC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 =  Capacity × Pressure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01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5 L × 200 atm  =  1 000 L</a:t>
            </a:r>
            <a:endParaRPr lang="en-US" sz="1300" dirty="0">
              <a:solidFill>
                <a:srgbClr val="FFCC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→ 100 units in Q1 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0F4F8"/>
          </a:solidFill>
          <a:ln w="12700">
            <a:solidFill>
              <a:srgbClr val="E0EA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93776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Fleet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 — Primary Rescue Units</a:t>
            </a:r>
            <a:endParaRPr lang="en-US" sz="1200" dirty="0">
              <a:solidFill>
                <a:srgbClr val="9900CC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cylinder payload; handle clinical setup and transport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Emergency Support Asset</a:t>
            </a:r>
            <a:endParaRPr lang="en-US" sz="1200" dirty="0">
              <a:solidFill>
                <a:srgbClr val="9900CC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fresh cylinders on alarm — no victim transport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8321040" cy="804672"/>
          </a:xfrm>
          <a:prstGeom prst="roundRect">
            <a:avLst>
              <a:gd name="adj" fmla="val 9091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080" y="30723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07238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cerebral hypoxia initiates irreversible cellular necrosis within 4–10 minutes of oxygen absence. Emergency replenishment must therefore be computed by the planner before reserves are exhausted.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9502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precondition enforced on every move action: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24528"/>
            <a:ext cx="8321040" cy="621792"/>
          </a:xfrm>
          <a:prstGeom prst="roundRect">
            <a:avLst>
              <a:gd name="adj" fmla="val 10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0080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(&gt; (oxygen-remaining ?r)  (+ (flow-rate ?d)  (alarm-threshold ?d)))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MODELLING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Device Assignment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delivery devices modelled by SpO₂ severity — each with specific flow rates and biological alarm thresholds: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63739"/>
              </p:ext>
            </p:extLst>
          </p:nvPr>
        </p:nvGraphicFramePr>
        <p:xfrm>
          <a:off x="320040" y="1234440"/>
          <a:ext cx="8503920" cy="287324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(units/step)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(units/sec)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Nasal Cannula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desaturation, SpO₂ &gt; 92%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Venturi Mask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COPD patient, 88% ≤ SpO₂ ≤ 91%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Face Mask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Non-COPD, moderate hypoxia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Reservoir Mask (NRB)</a:t>
                      </a:r>
                      <a:endParaRPr lang="en-US" sz="11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1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Profound hypoxia, SpO₂ &lt; 91%</a:t>
                      </a:r>
                      <a:endParaRPr lang="en-US" sz="11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/ 40 units</a:t>
                      </a:r>
                      <a:endParaRPr lang="en-US" sz="11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NRB = Non-Rebreather Bag (reservoir mask). Alarm threshold differs between models: 60 units (Q1 discrete) vs 40 units (Q2 temporal granularity).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MODEL</a:t>
            </a:r>
            <a:endParaRPr lang="en-US" sz="900" dirty="0">
              <a:solidFill>
                <a:srgbClr val="FFCC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 Numeric PDDL — :numeric-fluents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365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C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:numeric-fluents</a:t>
            </a:r>
            <a:endParaRPr lang="en-US" sz="1200" dirty="0">
              <a:solidFill>
                <a:srgbClr val="FFCC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move-with-patient  Safety Precondition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41605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(&gt; (oxygen-remaining ?r)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(+ (flow-rate ?d)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(alarm-threshold ?d)))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also: (not (safe-zone ?from))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 → reward-hacking lock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movement if O₂ ≤ flow + threshold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mid-transit unrecoverable states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safe zone to prevent metric exploitation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74920" y="10972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230368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1.1 — Sufficient Oxygen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0368" y="1554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+ R2 each start with 100 units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0368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A: COPD (Venturi, 4 u/step)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2194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B: Normal (Cannula, 3 u/step)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30368" y="2514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 20 steps | 134 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3090672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230368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1.2 — Constrained Crisis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0368" y="3547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A: Reservoir Mask (12 u/step, alarm 60)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30368" y="38679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topology — no shortcuts to hub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30368" y="41879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alarm at room-c → R3 delivers cylinder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30368" y="4507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 33 steps | 858 states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Emergent Multi-Agent Behavior (Problem 1.1)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1033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Steps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20824" y="98755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020824" y="1033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20824" y="15087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Metric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21608" y="98755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721608" y="1033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21608" y="15087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Expanded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22392" y="98755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22392" y="1033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22392" y="15087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Evaluated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23176" y="98755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123176" y="1033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134ms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23176" y="15087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Time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Specialization — Without Hard-Coded Roles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2450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ENHSP solver autonomously discovers an optimal division of labor using only spatial co-location logic: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CCCCFF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" y="2898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285292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·  Transport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1089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and secures Patient B → transports to safe zone via base-r3 (Steps 5–6)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CCCCFF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65760" y="35844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15–17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353872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·  Clinical Prep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7947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Patient A, locates them, attaches Venturi mask — never transports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CCCCFF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65760" y="42702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22452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·  Cross-agent Takeover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17320" y="44805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for Patient A after finishing with Patient B — emergent role swap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3657600" cy="365760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CCCCFF">
              <a:alpha val="12000"/>
            </a:srgbClr>
          </a:solidFill>
          <a:ln w="12700">
            <a:solidFill>
              <a:srgbClr val="7030A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PROBLEM 1.2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Crisis Management — The Dead-End</a:t>
            </a: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State Tracking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30352" y="14996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11–13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7647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transports Patient B (Venturi, 3 edges × 4 u)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O₂ = 88 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551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takes over critical Patient A at room-b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23591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O₂ = 76 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30352" y="30723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27–28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3375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traverses corridor → room-c, consuming 12 u each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3145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O₂ = 64 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831336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0352" y="3858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Rroom</a:t>
            </a:r>
            <a:r>
              <a:rPr lang="en-US" sz="1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41239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64 &gt; (12 + 60) fails — move-with-patient blocked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6324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&gt; 72 ? FALSE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Rescue Loop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66360" y="1444752"/>
            <a:ext cx="3657600" cy="804672"/>
          </a:xfrm>
          <a:prstGeom prst="roundRect">
            <a:avLst>
              <a:gd name="adj" fmla="val 7955"/>
            </a:avLst>
          </a:prstGeom>
          <a:solidFill>
            <a:srgbClr val="0F2318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321808" y="1517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Step 29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executes  send-alarm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21808" y="1993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state committed — movement frozen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66360" y="2377440"/>
            <a:ext cx="3657600" cy="804672"/>
          </a:xfrm>
          <a:prstGeom prst="roundRect">
            <a:avLst>
              <a:gd name="adj" fmla="val 7955"/>
            </a:avLst>
          </a:prstGeom>
          <a:solidFill>
            <a:srgbClr val="0F2318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321808" y="2450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Step 30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27066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executes  deliver-cylinder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21808" y="2926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Pre-positioned at room-c; O₂ reset to 100 u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66360" y="3310128"/>
            <a:ext cx="3657600" cy="804672"/>
          </a:xfrm>
          <a:prstGeom prst="roundRect">
            <a:avLst>
              <a:gd name="adj" fmla="val 7955"/>
            </a:avLst>
          </a:prstGeom>
          <a:solidFill>
            <a:srgbClr val="0F2318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321808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Steps 31–32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resumes evacuation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21808" y="3858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 reaches safe zone — mission complete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66360" y="4315968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1C1100"/>
          </a:solidFill>
          <a:ln w="12700">
            <a:solidFill>
              <a:srgbClr val="F593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321808" y="4389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Reward Hacking Prevention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21808" y="46268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B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 (safe-zone ?from))  blocks metric exploitation loops.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Temporal PDDL+  ·  :durative-actions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2057400"/>
          </a:xfrm>
          <a:prstGeom prst="roundRect">
            <a:avLst>
              <a:gd name="adj" fmla="val 4444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Positive STRIPS Predicates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preconditions eliminated. Tracking predicates added: is-normal-room replaces (not safe-zone); alarm-clear replaces (not alarm-sent). Prevents OPTIC memory corruption on ADL negation evaluation.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81728" y="1097280"/>
            <a:ext cx="4023360" cy="205740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64608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 Exact Temporal Discretization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64608" y="1627632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#t integration is unstable in OPTIC. Oxygen depletion is computed exactly at action end as flow-rate × transit-duration — a closed-form integral over the action duration.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Depletion (at end of durative action):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5935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66928" y="369417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(at end (decrease (oxygen-remaining ?r)  (* (flow-rate ?d) (transit-duration ?from ?to))))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Splitting: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44622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move-with-patient  ·  move-with-patient-to-safe-zone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EXECUTION TRACE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Makespan: 25.008 seconds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—  Patient B  (Venturi · 2.0 L/s)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0467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423128" y="1353312"/>
            <a:ext cx="109728" cy="3840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424094" y="1353312"/>
            <a:ext cx="4828032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69814" y="13990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transporting Patient B — 30 L consumed, 70 L residual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25278" y="1005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Rescued t=18.0s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—  Patient A  (Reservoir · 6.0 L/s)  [CRISIS]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8046720" cy="38404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10603" y="2304288"/>
            <a:ext cx="109728" cy="3840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11569" y="2304288"/>
            <a:ext cx="3218688" cy="384048"/>
          </a:xfrm>
          <a:prstGeom prst="roundRect">
            <a:avLst>
              <a:gd name="adj" fmla="val 9524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757289" y="235000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transporting Patient 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30257" y="2304288"/>
            <a:ext cx="1288119" cy="38404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948545" y="2350008"/>
            <a:ext cx="1251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alarm + R3 cylinder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18376" y="2304288"/>
            <a:ext cx="1287797" cy="384048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254952" y="2350008"/>
            <a:ext cx="12146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30257" y="1719072"/>
            <a:ext cx="0" cy="566928"/>
          </a:xfrm>
          <a:prstGeom prst="line">
            <a:avLst/>
          </a:prstGeom>
          <a:noFill/>
          <a:ln w="1524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354019" y="1691640"/>
            <a:ext cx="2484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t=17.004  |  40 &gt; (24+40)? FALSE  →  alarm sent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804672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57200" y="2907792"/>
            <a:ext cx="0" cy="91440"/>
          </a:xfrm>
          <a:prstGeom prst="line">
            <a:avLst/>
          </a:prstGeom>
          <a:noFill/>
          <a:ln w="762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28600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422806" y="2907792"/>
            <a:ext cx="0" cy="91440"/>
          </a:xfrm>
          <a:prstGeom prst="line">
            <a:avLst/>
          </a:prstGeom>
          <a:noFill/>
          <a:ln w="762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194206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10282" y="2907792"/>
            <a:ext cx="0" cy="91440"/>
          </a:xfrm>
          <a:prstGeom prst="line">
            <a:avLst/>
          </a:prstGeom>
          <a:noFill/>
          <a:ln w="762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481682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75888" y="2907792"/>
            <a:ext cx="0" cy="91440"/>
          </a:xfrm>
          <a:prstGeom prst="line">
            <a:avLst/>
          </a:prstGeom>
          <a:noFill/>
          <a:ln w="762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447288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285232" y="2907792"/>
            <a:ext cx="0" cy="91440"/>
          </a:xfrm>
          <a:prstGeom prst="line">
            <a:avLst/>
          </a:prstGeom>
          <a:noFill/>
          <a:ln w="762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056632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28970" y="2907792"/>
            <a:ext cx="0" cy="91440"/>
          </a:xfrm>
          <a:prstGeom prst="line">
            <a:avLst/>
          </a:prstGeom>
          <a:noFill/>
          <a:ln w="762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700370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572707" y="2907792"/>
            <a:ext cx="0" cy="91440"/>
          </a:xfrm>
          <a:prstGeom prst="line">
            <a:avLst/>
          </a:prstGeom>
          <a:noFill/>
          <a:ln w="762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344107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16445" y="2907792"/>
            <a:ext cx="0" cy="91440"/>
          </a:xfrm>
          <a:prstGeom prst="line">
            <a:avLst/>
          </a:prstGeom>
          <a:noFill/>
          <a:ln w="762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987845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503920" y="2907792"/>
            <a:ext cx="0" cy="91440"/>
          </a:xfrm>
          <a:prstGeom prst="line">
            <a:avLst/>
          </a:prstGeom>
          <a:noFill/>
          <a:ln w="762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275320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10282" y="32461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room-a→b→corridor→room-c: −60 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28970" y="3520440"/>
            <a:ext cx="100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dispatches (2s)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16445" y="3794760"/>
            <a:ext cx="16532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→ safe zone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81267" y="2743200"/>
            <a:ext cx="11111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O₂ reset → 100 u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vs Q2 — Architectural Differences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38052"/>
              </p:ext>
            </p:extLst>
          </p:nvPr>
        </p:nvGraphicFramePr>
        <p:xfrm>
          <a:off x="320040" y="1101852"/>
          <a:ext cx="8503920" cy="30723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— Discrete PDDL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— Temporal PDDL+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O₂ consumed</a:t>
                      </a:r>
                      <a:endParaRPr lang="en-US" sz="1150" b="1" dirty="0">
                        <a:solidFill>
                          <a:srgbClr val="7030A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makespan (time)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Representation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step-wise sequential</a:t>
                      </a:r>
                      <a:endParaRPr lang="en-US" sz="1150" b="1" dirty="0">
                        <a:solidFill>
                          <a:srgbClr val="7030A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              Durative intervals in seconds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 Depletion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step decrements</a:t>
                      </a:r>
                      <a:endParaRPr lang="en-US" sz="1150" b="1" dirty="0">
                        <a:solidFill>
                          <a:srgbClr val="7030A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× transit-duration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Execution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Interleaved, one asset/step</a:t>
                      </a:r>
                      <a:endParaRPr lang="en-US" sz="1150" b="1" dirty="0">
                        <a:solidFill>
                          <a:srgbClr val="7030A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              True parallel concurrency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Task Overhead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— time freezes</a:t>
                      </a:r>
                      <a:endParaRPr lang="en-US" sz="1150" b="1" dirty="0">
                        <a:solidFill>
                          <a:srgbClr val="7030A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background drain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ENHSP (heuristic search)</a:t>
                      </a:r>
                      <a:endParaRPr lang="en-US" sz="1150" b="1" dirty="0">
                        <a:solidFill>
                          <a:srgbClr val="7030A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 (LP temporal)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91032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Step-Time Delusion (Q1): time freezes during clinical setup, ignoring real biological O₂ consumption. Q2 eliminates this with real-time binding.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Constraints and Proposed Extensions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Limitations</a:t>
            </a:r>
            <a:endParaRPr lang="en-US" sz="1500" dirty="0">
              <a:solidFill>
                <a:srgbClr val="7030A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30352" y="148132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movements treated as zero-cost — kinematic inefficiency unpunished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freezes during device setup — biological consumption ignored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FCCFF"/>
          </a:solidFill>
          <a:ln w="12700">
            <a:solidFill>
              <a:srgbClr val="9900C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8"/>
          <p:cNvSpPr/>
          <p:nvPr/>
        </p:nvSpPr>
        <p:spPr>
          <a:xfrm>
            <a:off x="530352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en-US" sz="11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Fix</a:t>
            </a:r>
            <a:endParaRPr lang="en-US" sz="1150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30352" y="35661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integrated step + volumetric penalty. Scale R3 cylinder exchange cost to actual travel distance.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Limitations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09160" y="1389888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73752" y="148132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#t integration only — real hypoxia is exponential below critical SpO₂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212848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73752" y="230428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 instability with complex #t + ADL negations (memory corruption)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873752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Proposed Fix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73752" y="35661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linear approximations to model escalating biological decay across threshold bands. Probabilistic duration for hardware actions.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07408"/>
            <a:ext cx="836676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3D52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45171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General Extension: multi-floor topologies with elevator transition costs · uncertainty modelling for patient condition deterioration during planning horizon.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926080"/>
            <a:ext cx="4114800" cy="4114800"/>
          </a:xfrm>
          <a:prstGeom prst="ellipse">
            <a:avLst/>
          </a:prstGeom>
          <a:solidFill>
            <a:srgbClr val="CC99FF">
              <a:alpha val="12000"/>
            </a:srgbClr>
          </a:solidFill>
          <a:ln w="12700">
            <a:solidFill>
              <a:srgbClr val="7030A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FCCFF">
              <a:alpha val="15000"/>
            </a:srgbClr>
          </a:solidFill>
          <a:ln w="12700">
            <a:solidFill>
              <a:srgbClr val="FFC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731520"/>
          </a:xfrm>
          <a:prstGeom prst="roundRect">
            <a:avLst>
              <a:gd name="adj" fmla="val 11250"/>
            </a:avLst>
          </a:prstGeom>
          <a:solidFill>
            <a:srgbClr val="CC99FF">
              <a:alpha val="80000"/>
            </a:srgbClr>
          </a:solidFill>
          <a:ln w="12700">
            <a:solidFill>
              <a:srgbClr val="3D52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58368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3898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grounding links physical kinematics to physiological constraints — the planner proactively predicts dead-ends and rewrites timelines dynamically.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8046720" cy="731520"/>
          </a:xfrm>
          <a:prstGeom prst="roundRect">
            <a:avLst>
              <a:gd name="adj" fmla="val 11250"/>
            </a:avLst>
          </a:prstGeom>
          <a:solidFill>
            <a:srgbClr val="CC99FF">
              <a:alpha val="80000"/>
            </a:srgbClr>
          </a:solidFill>
          <a:ln w="12700">
            <a:solidFill>
              <a:srgbClr val="3D52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58368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22585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demonstrated emergent role specialization (R1 = clinical prep, R2 = transport) without any hard-coded agent assignment — purely from spatial co-location logic.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8046720" cy="731520"/>
          </a:xfrm>
          <a:prstGeom prst="roundRect">
            <a:avLst>
              <a:gd name="adj" fmla="val 11250"/>
            </a:avLst>
          </a:prstGeom>
          <a:solidFill>
            <a:srgbClr val="CC99FF">
              <a:alpha val="80000"/>
            </a:srgbClr>
          </a:solidFill>
          <a:ln w="12700">
            <a:solidFill>
              <a:srgbClr val="3D52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8368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31272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delivers true temporal concurrency, correct makespan optimization, and real-time oxygen budgeting with exact integral-based depletion.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04488"/>
            <a:ext cx="8046720" cy="731520"/>
          </a:xfrm>
          <a:prstGeom prst="roundRect">
            <a:avLst>
              <a:gd name="adj" fmla="val 11250"/>
            </a:avLst>
          </a:prstGeom>
          <a:solidFill>
            <a:srgbClr val="CC99FF">
              <a:alpha val="80000"/>
            </a:srgbClr>
          </a:solidFill>
          <a:ln w="12700">
            <a:solidFill>
              <a:srgbClr val="3D52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8368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3995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→ Q2 progression validates that PDDL frameworks provide a mathematically verifiable foundation for life-critical autonomous robotic systems.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Irene Schmidt  ·  Università degli Studi di Genova  ·  Artificial Intelligence for Robotics II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Metropolitano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109</TotalTime>
  <Words>1350</Words>
  <Application>Microsoft Office PowerPoint</Application>
  <PresentationFormat>Presentazione su schermo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Courier New</vt:lpstr>
      <vt:lpstr>Metropolitano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 – Oxygen Constraints and Survival Limits</dc:title>
  <dc:subject>PptxGenJS Presentation</dc:subject>
  <dc:creator>Irene Schmidt</dc:creator>
  <cp:lastModifiedBy>irene schmidt</cp:lastModifiedBy>
  <cp:revision>5</cp:revision>
  <dcterms:created xsi:type="dcterms:W3CDTF">2026-06-15T16:37:59Z</dcterms:created>
  <dcterms:modified xsi:type="dcterms:W3CDTF">2026-06-16T16:25:24Z</dcterms:modified>
</cp:coreProperties>
</file>